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GB" alt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GB" alt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3755" y="1152525"/>
            <a:ext cx="9834245" cy="3846195"/>
          </a:xfrm>
        </p:spPr>
        <p:txBody>
          <a:bodyPr>
            <a:normAutofit fontScale="90000"/>
          </a:bodyPr>
          <a:p>
            <a:r>
              <a:rPr lang="en-US" altLang="en-GB" sz="4000"/>
              <a:t>Title: Longest Match Rule in Token Recognition</a:t>
            </a:r>
            <a:br>
              <a:rPr lang="en-US" altLang="en-GB" sz="4000"/>
            </a:br>
            <a:r>
              <a:rPr lang="en-US" altLang="en-GB" sz="4000"/>
              <a:t>Course: Compiler Design</a:t>
            </a:r>
            <a:br>
              <a:rPr lang="en-US" altLang="en-GB" sz="4000"/>
            </a:br>
            <a:r>
              <a:rPr lang="en-US" altLang="en-GB" sz="4000"/>
              <a:t>Name: [HELEN ADUGNA]</a:t>
            </a:r>
            <a:br>
              <a:rPr lang="en-US" altLang="en-GB" sz="4000"/>
            </a:br>
            <a:r>
              <a:rPr lang="en-US" altLang="en-GB" sz="4000"/>
              <a:t>Student ID: [1506501]</a:t>
            </a:r>
            <a:br>
              <a:rPr lang="en-US" altLang="en-GB" sz="4000"/>
            </a:br>
            <a:r>
              <a:rPr lang="en-US" altLang="en-GB" sz="4000"/>
              <a:t>Topic: Lexical Analysis – Token Recognition</a:t>
            </a:r>
            <a:endParaRPr lang="en-US" altLang="en-GB" sz="4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1355" y="1463040"/>
            <a:ext cx="9986645" cy="3794760"/>
          </a:xfrm>
        </p:spPr>
        <p:txBody>
          <a:bodyPr/>
          <a:p>
            <a:endParaRPr lang="en-US" altLang="en-GB" sz="4000"/>
          </a:p>
          <a:p>
            <a:endParaRPr lang="en-US" altLang="en-GB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                            Introduction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GB" sz="3110" b="1"/>
              <a:t>Introduction to Lexical Analysis</a:t>
            </a:r>
            <a:endParaRPr lang="en-US" altLang="en-GB" sz="3110" b="1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/>
              <a:t>Lexical analysis is the first phase of a compiler.</a:t>
            </a:r>
            <a:endParaRPr lang="en-US" altLang="en-GB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/>
              <a:t>Its main purpose is to scan source code and convert it into a sequence of tokens, the smallest meaningful units such as keywords, identifiers, operators, and literals.</a:t>
            </a:r>
            <a:endParaRPr lang="en-US" altLang="en-GB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/>
              <a:t>Token recognition is not always straightforward because multiple token patterns may match the same input substring.</a:t>
            </a:r>
            <a:endParaRPr lang="en-US" altLang="en-GB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/>
              <a:t>The Longest Match Rule (also called maximal munch) is applied to resolve this ambiguity and ensure consistent tokenization.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      What is Token Recognition?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Font typeface="Arial" panose="020B0604020202020204" pitchFamily="34" charset="0"/>
              <a:buNone/>
            </a:pPr>
            <a:r>
              <a:rPr lang="en-US" altLang="en-GB" b="1"/>
              <a:t>Token Recognition in Lexical Analysis</a:t>
            </a:r>
            <a:endParaRPr lang="en-US" altLang="en-GB" b="1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400"/>
              <a:t>Each token type has a pattern, usually defined using regular expressions.</a:t>
            </a:r>
            <a:endParaRPr lang="en-US" altLang="en-GB" sz="24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400"/>
              <a:t>Common token examples:</a:t>
            </a:r>
            <a:endParaRPr lang="en-US" altLang="en-GB" sz="24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GB" sz="2400"/>
              <a:t>                 IDENTIFIER </a:t>
            </a:r>
            <a:r>
              <a:rPr lang="en-US" altLang="en-US" sz="2400"/>
              <a:t>→</a:t>
            </a:r>
            <a:r>
              <a:rPr lang="en-US" altLang="en-GB" sz="2400"/>
              <a:t> [a-zA-Z][a-zA-Z0-9]*</a:t>
            </a:r>
            <a:endParaRPr lang="en-US" altLang="en-GB" sz="24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GB" sz="2400"/>
              <a:t>                 NUMBER </a:t>
            </a:r>
            <a:r>
              <a:rPr lang="en-US" altLang="en-US" sz="2400"/>
              <a:t>→</a:t>
            </a:r>
            <a:r>
              <a:rPr lang="en-US" altLang="en-GB" sz="2400"/>
              <a:t> [0-9]+</a:t>
            </a:r>
            <a:endParaRPr lang="en-US" altLang="en-GB" sz="24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GB" sz="2400"/>
              <a:t>                 OPERATOR </a:t>
            </a:r>
            <a:r>
              <a:rPr lang="en-US" altLang="en-US" sz="2400"/>
              <a:t>→</a:t>
            </a:r>
            <a:r>
              <a:rPr lang="en-US" altLang="en-GB" sz="2400"/>
              <a:t> +, -, *, /</a:t>
            </a:r>
            <a:endParaRPr lang="en-US" altLang="en-GB" sz="24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GB" sz="2400"/>
              <a:t>                 KEYWORD </a:t>
            </a:r>
            <a:r>
              <a:rPr lang="en-US" altLang="en-US" sz="2400"/>
              <a:t>→</a:t>
            </a:r>
            <a:r>
              <a:rPr lang="en-US" altLang="en-GB" sz="2400"/>
              <a:t> if, while, return</a:t>
            </a:r>
            <a:endParaRPr lang="en-US" altLang="en-GB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4800"/>
              <a:t>                     Cont....</a:t>
            </a:r>
            <a:endParaRPr lang="en-US" altLang="en-GB" sz="4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u="sng"/>
              <a:t>Input </a:t>
            </a:r>
            <a:r>
              <a:rPr lang="en-US" altLang="en-GB"/>
              <a:t>                         </a:t>
            </a:r>
            <a:r>
              <a:rPr lang="en-US" altLang="en-GB" u="sng"/>
              <a:t>Possible Matches</a:t>
            </a:r>
            <a:r>
              <a:rPr lang="en-US" altLang="en-GB"/>
              <a:t>                 </a:t>
            </a:r>
            <a:r>
              <a:rPr lang="en-US" altLang="en-GB" u="sng"/>
              <a:t>Selected Token</a:t>
            </a:r>
            <a:endParaRPr lang="en-US" altLang="en-GB"/>
          </a:p>
          <a:p>
            <a:pPr marL="0" indent="0">
              <a:buNone/>
            </a:pPr>
            <a:r>
              <a:rPr lang="en-US" altLang="en-GB" sz="2400"/>
              <a:t>abc123                              abc, abc123                                  abc123 (IDENTIFIER)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/>
              <a:t>&lt;=                                         &lt;, &lt;=                                             &lt;= (LESS_THAN_EQUAL)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/>
              <a:t>a+b                                    a (ID), + (OP), b (ID)                     Correct token stream: a + b</a:t>
            </a:r>
            <a:endParaRPr lang="en-US" altLang="en-GB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      Definition of Longest Match Rule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215" y="1825625"/>
            <a:ext cx="10776585" cy="473519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GB" b="1"/>
              <a:t>Longest Match Rule</a:t>
            </a:r>
            <a:endParaRPr lang="en-US" altLang="en-GB" b="1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b="1"/>
              <a:t>Definition:</a:t>
            </a:r>
            <a:r>
              <a:rPr lang="en-US" altLang="en-GB" sz="2400"/>
              <a:t>When multiple token patterns can match a prefix of the input string, the lexer chooses the longest possible substring as a token.</a:t>
            </a:r>
            <a:endParaRPr lang="en-US" altLang="en-GB" sz="24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400"/>
              <a:t>Also known as maximal munch in compiler terminology.</a:t>
            </a:r>
            <a:endParaRPr lang="en-US" altLang="en-GB" sz="24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400"/>
              <a:t>Ensures unambiguous tokenization.</a:t>
            </a:r>
            <a:endParaRPr lang="en-US" altLang="en-GB" sz="24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400"/>
              <a:t>Critical for multi-character operators, identifiers, and numbers.</a:t>
            </a:r>
            <a:endParaRPr lang="en-US" altLang="en-GB" sz="24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GB" sz="2400" b="1"/>
              <a:t>Example:</a:t>
            </a:r>
            <a:endParaRPr lang="en-US" altLang="en-GB" sz="2400" b="1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400"/>
              <a:t>Input: &lt;=</a:t>
            </a:r>
            <a:endParaRPr lang="en-US" altLang="en-GB" sz="24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400"/>
              <a:t>Possible tokens: &lt; (LESS_THAN), &lt;= (LESS_THAN_EQUAL)</a:t>
            </a:r>
            <a:endParaRPr lang="en-US" altLang="en-GB" sz="24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400"/>
              <a:t>Longest match rule chooses &lt;= </a:t>
            </a:r>
            <a:r>
              <a:rPr lang="en-US" altLang="en-US" sz="2400"/>
              <a:t>→</a:t>
            </a:r>
            <a:r>
              <a:rPr lang="en-US" altLang="en-GB" sz="2400"/>
              <a:t> LESS_THAN_EQUAL</a:t>
            </a:r>
            <a:endParaRPr lang="en-US" altLang="en-GB" sz="2400"/>
          </a:p>
          <a:p>
            <a:pPr>
              <a:buFont typeface="Arial" panose="020B0604020202020204" pitchFamily="34" charset="0"/>
              <a:buChar char="•"/>
            </a:pPr>
            <a:endParaRPr lang="en-US" altLang="en-GB" b="1"/>
          </a:p>
          <a:p>
            <a:pPr marL="0" indent="0">
              <a:buNone/>
            </a:pPr>
            <a:endParaRPr lang="en-US" altLang="en-GB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                Cont...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Mini Diagram Idea: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Input: &lt;=  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Pattern 1: &lt;  (matches 1 character)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Pattern 2: &lt;= (matches 2 characters </a:t>
            </a:r>
            <a:r>
              <a:rPr lang="en-US" altLang="en-US"/>
              <a:t>→</a:t>
            </a:r>
            <a:r>
              <a:rPr lang="en-US" altLang="en-GB"/>
              <a:t> selected)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       Importance of Longest Match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Why Longest Match is Crucial?</a:t>
            </a:r>
            <a:endParaRPr lang="en-US" altLang="en-GB" b="1"/>
          </a:p>
          <a:p>
            <a:r>
              <a:rPr lang="en-US" altLang="en-GB"/>
              <a:t>Prevents ambiguity in tokenization.</a:t>
            </a:r>
            <a:endParaRPr lang="en-US" altLang="en-GB"/>
          </a:p>
          <a:p>
            <a:r>
              <a:rPr lang="en-US" altLang="en-GB"/>
              <a:t>Ensures correct interpretation of multi-character operators: ==, &lt;=, &gt;=.</a:t>
            </a:r>
            <a:endParaRPr lang="en-US" altLang="en-GB"/>
          </a:p>
          <a:p>
            <a:r>
              <a:rPr lang="en-US" altLang="en-GB"/>
              <a:t>Helps lexers produce consistent token streams for parsers.</a:t>
            </a:r>
            <a:endParaRPr lang="en-US" altLang="en-GB"/>
          </a:p>
          <a:p>
            <a:r>
              <a:rPr lang="en-US" altLang="en-GB"/>
              <a:t>Aligns with human expectation: source code behaves as the programmer intended.</a:t>
            </a:r>
            <a:endParaRPr lang="en-US" altLang="en-GB"/>
          </a:p>
          <a:p>
            <a:r>
              <a:rPr lang="en-US" altLang="en-GB"/>
              <a:t>Prevents cascading errors: Incorrect tokenization can cause parser errors downstream.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835" y="365125"/>
            <a:ext cx="10514965" cy="1325880"/>
          </a:xfrm>
        </p:spPr>
        <p:txBody>
          <a:bodyPr/>
          <a:p>
            <a:r>
              <a:rPr lang="en-US" altLang="en-GB"/>
              <a:t>                 Cont...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Example:</a:t>
            </a:r>
            <a:endParaRPr lang="en-US" altLang="en-GB"/>
          </a:p>
          <a:p>
            <a:r>
              <a:rPr lang="en-US" altLang="en-GB"/>
              <a:t>Input: count++</a:t>
            </a:r>
            <a:endParaRPr lang="en-US" altLang="en-GB"/>
          </a:p>
          <a:p>
            <a:r>
              <a:rPr lang="en-US" altLang="en-GB"/>
              <a:t>Tokens: count (IDENTIFIER), ++ (INCREMENT_OPERATOR)</a:t>
            </a:r>
            <a:endParaRPr lang="en-US" altLang="en-GB"/>
          </a:p>
          <a:p>
            <a:r>
              <a:rPr lang="en-US" altLang="en-GB"/>
              <a:t>Without longest match: count + + </a:t>
            </a:r>
            <a:r>
              <a:rPr lang="en-US" altLang="en-US"/>
              <a:t>→</a:t>
            </a:r>
            <a:r>
              <a:rPr lang="en-US" altLang="en-GB"/>
              <a:t> parsing errors occur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       Lexical Analyzer Implementation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How Lexers Apply the Rule?</a:t>
            </a:r>
            <a:endParaRPr lang="en-US" altLang="en-GB" b="1"/>
          </a:p>
          <a:p>
            <a:r>
              <a:rPr lang="en-US" altLang="en-GB"/>
              <a:t>Lexers maintain a lookahead buffer to scan input characters.</a:t>
            </a:r>
            <a:endParaRPr lang="en-US" altLang="en-GB"/>
          </a:p>
          <a:p>
            <a:r>
              <a:rPr lang="en-US" altLang="en-GB"/>
              <a:t>At each position, the lexer: </a:t>
            </a:r>
            <a:endParaRPr lang="en-US" altLang="en-GB"/>
          </a:p>
          <a:p>
            <a:pPr marL="514350" indent="-514350">
              <a:buAutoNum type="arabicPeriod"/>
            </a:pPr>
            <a:r>
              <a:rPr lang="en-US" altLang="en-GB"/>
              <a:t>Checks all token patterns that could match the current input.</a:t>
            </a:r>
            <a:endParaRPr lang="en-US" altLang="en-GB"/>
          </a:p>
          <a:p>
            <a:pPr marL="514350" indent="-514350">
              <a:buAutoNum type="arabicPeriod"/>
            </a:pPr>
            <a:r>
              <a:rPr lang="en-US" altLang="en-GB"/>
              <a:t>Selects the pattern matching the longest substring.</a:t>
            </a:r>
            <a:endParaRPr lang="en-US" altLang="en-GB"/>
          </a:p>
          <a:p>
            <a:pPr marL="514350" indent="-514350">
              <a:buAutoNum type="arabicPeriod"/>
            </a:pPr>
            <a:r>
              <a:rPr lang="en-US" altLang="en-GB"/>
              <a:t>Emits the token and advances the input pointer by the token length.</a:t>
            </a:r>
            <a:endParaRPr lang="en-US" altLang="en-GB"/>
          </a:p>
          <a:p>
            <a:pPr marL="514350" indent="-514350">
              <a:buAutoNum type="arabicPeriod"/>
            </a:pPr>
            <a:r>
              <a:rPr lang="en-US" altLang="en-GB"/>
              <a:t>If no match is found </a:t>
            </a:r>
            <a:r>
              <a:rPr lang="en-US" altLang="en-US"/>
              <a:t>→</a:t>
            </a:r>
            <a:r>
              <a:rPr lang="en-US" altLang="en-GB"/>
              <a:t> lexical error is reported.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GB"/>
              <a:t>                               Cont...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020" y="1297940"/>
            <a:ext cx="10812780" cy="556069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GB" b="1"/>
              <a:t>Pseudo-Code:</a:t>
            </a:r>
            <a:endParaRPr lang="en-US" altLang="en-GB" b="1"/>
          </a:p>
          <a:p>
            <a:pPr marL="0" indent="0">
              <a:buNone/>
            </a:pPr>
            <a:r>
              <a:rPr lang="en-US" altLang="en-GB" b="1"/>
              <a:t> </a:t>
            </a:r>
            <a:r>
              <a:rPr lang="en-US" altLang="en-GB"/>
              <a:t> while not end_of_input: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longest_token = ""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for each token_pattern: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if pattern matches input prefix longer than longest_token: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   longest_token = matched substring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if longest_token exists: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emit token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move input pointer forward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else: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report lexical error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                            Cont...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Mini Diagram Idea:</a:t>
            </a:r>
            <a:endParaRPr lang="en-US" altLang="en-GB" b="1"/>
          </a:p>
          <a:p>
            <a:pPr marL="0" indent="0">
              <a:buNone/>
            </a:pPr>
            <a:r>
              <a:rPr lang="en-US" altLang="en-GB" b="1"/>
              <a:t> </a:t>
            </a:r>
            <a:r>
              <a:rPr lang="en-US" altLang="en-GB"/>
              <a:t>Input: a+b==c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Step 1: 'a' </a:t>
            </a:r>
            <a:r>
              <a:rPr lang="en-US" altLang="en-US"/>
              <a:t>→</a:t>
            </a:r>
            <a:r>
              <a:rPr lang="en-US" altLang="en-GB"/>
              <a:t> IDENTIFIER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Step 2: '+' </a:t>
            </a:r>
            <a:r>
              <a:rPr lang="en-US" altLang="en-US"/>
              <a:t>→</a:t>
            </a:r>
            <a:r>
              <a:rPr lang="en-US" altLang="en-GB"/>
              <a:t> OPERATOR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Step 3: 'b' </a:t>
            </a:r>
            <a:r>
              <a:rPr lang="en-US" altLang="en-US"/>
              <a:t>→</a:t>
            </a:r>
            <a:r>
              <a:rPr lang="en-US" altLang="en-GB"/>
              <a:t> IDENTIFIER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Step 4: '==' </a:t>
            </a:r>
            <a:r>
              <a:rPr lang="en-US" altLang="en-US"/>
              <a:t>→</a:t>
            </a:r>
            <a:r>
              <a:rPr lang="en-US" altLang="en-GB"/>
              <a:t> OPERATOR (longest match)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Step 5: 'c' </a:t>
            </a:r>
            <a:r>
              <a:rPr lang="en-US" altLang="en-US"/>
              <a:t>→</a:t>
            </a:r>
            <a:r>
              <a:rPr lang="en-US" altLang="en-GB"/>
              <a:t> IDENTIFIER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                 Extended Examples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Real Examples of Longest Match:</a:t>
            </a:r>
            <a:endParaRPr lang="en-US" altLang="en-GB"/>
          </a:p>
          <a:p>
            <a:pPr marL="514350" indent="-514350">
              <a:buAutoNum type="arabicPeriod"/>
            </a:pPr>
            <a:r>
              <a:rPr lang="en-US" altLang="en-GB" sz="2400"/>
              <a:t>Input: &lt;= </a:t>
            </a:r>
            <a:r>
              <a:rPr lang="en-US" altLang="en-US" sz="2400"/>
              <a:t>→</a:t>
            </a:r>
            <a:r>
              <a:rPr lang="en-US" altLang="en-GB" sz="2400"/>
              <a:t> Selected Token: &lt;= (LESS_THAN_EQUAL)</a:t>
            </a:r>
            <a:endParaRPr lang="en-US" altLang="en-GB" sz="2400"/>
          </a:p>
          <a:p>
            <a:pPr marL="514350" indent="-514350">
              <a:buAutoNum type="arabicPeriod"/>
            </a:pPr>
            <a:r>
              <a:rPr lang="en-US" altLang="en-GB" sz="2400"/>
              <a:t>Input: identifier123 </a:t>
            </a:r>
            <a:r>
              <a:rPr lang="en-US" altLang="en-US" sz="2400"/>
              <a:t>→</a:t>
            </a:r>
            <a:r>
              <a:rPr lang="en-US" altLang="en-GB" sz="2400"/>
              <a:t> Selected Token: identifier123 (IDENTIFIER)</a:t>
            </a:r>
            <a:endParaRPr lang="en-US" altLang="en-GB" sz="2400"/>
          </a:p>
          <a:p>
            <a:pPr marL="514350" indent="-514350">
              <a:buAutoNum type="arabicPeriod"/>
            </a:pPr>
            <a:r>
              <a:rPr lang="en-US" altLang="en-GB" sz="2400"/>
              <a:t>Input: ifelse </a:t>
            </a:r>
            <a:r>
              <a:rPr lang="en-US" altLang="en-US" sz="2400"/>
              <a:t>→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     </a:t>
            </a:r>
            <a:r>
              <a:rPr lang="en-US" altLang="en-GB" sz="2400"/>
              <a:t>Patterns: if (KEYWORD), else (KEYWORD), ifelse (IDENTIFIER)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/>
              <a:t>         Longest match selects ifelse as IDENTIFIER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/>
              <a:t>4.Input: a+++b </a:t>
            </a:r>
            <a:r>
              <a:rPr lang="en-US" altLang="en-US" sz="2400"/>
              <a:t>→</a:t>
            </a:r>
            <a:r>
              <a:rPr lang="en-US" altLang="en-GB" sz="2400"/>
              <a:t> Tokens: a (IDENTIFIER), ++ (INCREMENT), + (OPERATOR), b (IDENTIFIER)</a:t>
            </a:r>
            <a:endParaRPr lang="en-US" altLang="en-GB" sz="2400"/>
          </a:p>
          <a:p>
            <a:pPr marL="0" indent="0" algn="ctr">
              <a:buNone/>
            </a:pPr>
            <a:endParaRPr lang="en-US" altLang="en-GB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                   Issues if Ignored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Risks Without Longest Match</a:t>
            </a:r>
            <a:endParaRPr lang="en-US" altLang="en-GB" b="1"/>
          </a:p>
          <a:p>
            <a:r>
              <a:rPr lang="en-US" altLang="en-GB"/>
              <a:t>Incorrect tokenization leads to lexical errors.</a:t>
            </a:r>
            <a:endParaRPr lang="en-US" altLang="en-GB"/>
          </a:p>
          <a:p>
            <a:r>
              <a:rPr lang="en-US" altLang="en-GB"/>
              <a:t>Multi-character operators may be split: == </a:t>
            </a:r>
            <a:r>
              <a:rPr lang="en-US" altLang="en-US"/>
              <a:t>→</a:t>
            </a:r>
            <a:r>
              <a:rPr lang="en-US" altLang="en-GB"/>
              <a:t> = =.</a:t>
            </a:r>
            <a:endParaRPr lang="en-US" altLang="en-GB"/>
          </a:p>
          <a:p>
            <a:r>
              <a:rPr lang="en-US" altLang="en-GB"/>
              <a:t>Identifiers could be split: count1 </a:t>
            </a:r>
            <a:r>
              <a:rPr lang="en-US" altLang="en-US"/>
              <a:t>→</a:t>
            </a:r>
            <a:r>
              <a:rPr lang="en-US" altLang="en-GB"/>
              <a:t> count 1 (incorrect).</a:t>
            </a:r>
            <a:endParaRPr lang="en-US" altLang="en-GB"/>
          </a:p>
          <a:p>
            <a:r>
              <a:rPr lang="en-US" altLang="en-GB"/>
              <a:t>Parsing errors may propagate, causing misinterpretation of the program.</a:t>
            </a:r>
            <a:endParaRPr lang="en-US" alt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                               Cont...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Example Table: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822325" y="2339340"/>
          <a:ext cx="10516235" cy="2278380"/>
        </p:xfrm>
        <a:graphic>
          <a:graphicData uri="http://schemas.openxmlformats.org/drawingml/2006/table">
            <a:tbl>
              <a:tblPr/>
              <a:tblGrid>
                <a:gridCol w="3338195"/>
                <a:gridCol w="3589020"/>
                <a:gridCol w="3589020"/>
              </a:tblGrid>
              <a:tr h="569595">
                <a:tc>
                  <a:txBody>
                    <a:bodyPr/>
                    <a:p>
                      <a:r>
                        <a:rPr sz="2400"/>
                        <a:t>Input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Without Longest Match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Correct Token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9595">
                <a:tc>
                  <a:txBody>
                    <a:bodyPr/>
                    <a:p>
                      <a:r>
                        <a:rPr sz="2400"/>
                        <a:t>==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=, </a:t>
                      </a:r>
                      <a:r>
                        <a:rPr sz="2400"/>
                        <a:t>=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==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9595">
                <a:tc>
                  <a:txBody>
                    <a:bodyPr/>
                    <a:p>
                      <a:r>
                        <a:rPr sz="2400"/>
                        <a:t>&lt;=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&lt;, </a:t>
                      </a:r>
                      <a:r>
                        <a:rPr sz="2400"/>
                        <a:t>=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&lt;=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9595">
                <a:tc>
                  <a:txBody>
                    <a:bodyPr/>
                    <a:p>
                      <a:r>
                        <a:rPr sz="2400"/>
                        <a:t>abc123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abc, </a:t>
                      </a:r>
                      <a:r>
                        <a:rPr sz="2400"/>
                        <a:t>123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abc123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    Advantages of the Longest Match Rule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Benefits</a:t>
            </a:r>
            <a:endParaRPr lang="en-US" altLang="en-GB" b="1"/>
          </a:p>
          <a:p>
            <a:r>
              <a:rPr lang="en-US" altLang="en-GB"/>
              <a:t>Guarantees deterministic tokenization.</a:t>
            </a:r>
            <a:endParaRPr lang="en-US" altLang="en-GB"/>
          </a:p>
          <a:p>
            <a:r>
              <a:rPr lang="en-US" altLang="en-GB"/>
              <a:t>Simplifies parser design — parser can trust the token stream.</a:t>
            </a:r>
            <a:endParaRPr lang="en-US" altLang="en-GB"/>
          </a:p>
          <a:p>
            <a:r>
              <a:rPr lang="en-US" altLang="en-GB"/>
              <a:t>Handles complex programming languages with multi-character operators.</a:t>
            </a:r>
            <a:endParaRPr lang="en-US" altLang="en-GB"/>
          </a:p>
          <a:p>
            <a:r>
              <a:rPr lang="en-US" altLang="en-GB"/>
              <a:t>Reduces lexical errors and debugging time.</a:t>
            </a:r>
            <a:endParaRPr lang="en-US" altLang="en-GB"/>
          </a:p>
          <a:p>
            <a:r>
              <a:rPr lang="en-US" altLang="en-GB"/>
              <a:t>Ensures consistency across different inputs.</a:t>
            </a:r>
            <a:endParaRPr lang="en-US" alt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            Conclusion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040" y="1825625"/>
            <a:ext cx="10906760" cy="4869180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GB" b="1"/>
              <a:t>Summary and Key Points</a:t>
            </a:r>
            <a:endParaRPr lang="en-US" altLang="en-GB" b="1"/>
          </a:p>
          <a:p>
            <a:r>
              <a:rPr lang="en-US" altLang="en-GB"/>
              <a:t>Longest Match Rule = selecting the maximal matching substring at every lexer position.</a:t>
            </a:r>
            <a:endParaRPr lang="en-US" altLang="en-GB"/>
          </a:p>
          <a:p>
            <a:r>
              <a:rPr lang="en-US" altLang="en-GB"/>
              <a:t>Resolves ambiguities in token recognition.</a:t>
            </a:r>
            <a:endParaRPr lang="en-US" altLang="en-GB"/>
          </a:p>
          <a:p>
            <a:r>
              <a:rPr lang="en-US" altLang="en-GB"/>
              <a:t>Essential for multi-character operators, identifiers, and numbers.</a:t>
            </a:r>
            <a:endParaRPr lang="en-US" altLang="en-GB"/>
          </a:p>
          <a:p>
            <a:r>
              <a:rPr lang="en-US" altLang="en-GB"/>
              <a:t>Without it: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         Tokenization errors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         Cascading parser errors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         Misinterpretation of source code</a:t>
            </a:r>
            <a:endParaRPr lang="en-US" altLang="en-GB"/>
          </a:p>
          <a:p>
            <a:r>
              <a:rPr lang="en-US" altLang="en-GB"/>
              <a:t>Key takeaway: Understanding and applying this rule ensures correct, reliable, and efficient lexical analysis, forming the foundation for robust compiler design.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   References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514350" indent="-514350">
              <a:buAutoNum type="arabicPeriod"/>
            </a:pPr>
            <a:r>
              <a:rPr lang="en-US" altLang="en-GB"/>
              <a:t>Aho, A. V., Lam, M. S., Sethi, R., &amp; Ullman, J. D. (2007). Compilers: Principles, Techniques, and Tools (2nd Edition). Pearson.</a:t>
            </a:r>
            <a:endParaRPr lang="en-US" altLang="en-GB"/>
          </a:p>
          <a:p>
            <a:pPr marL="514350" indent="-514350">
              <a:buAutoNum type="arabicPeriod"/>
            </a:pPr>
            <a:r>
              <a:rPr lang="en-US" altLang="en-GB"/>
              <a:t>Appel, A. W. (2004). Modern Compiler Implementation in C. Cambridge University Press.</a:t>
            </a:r>
            <a:endParaRPr lang="en-US" altLang="en-GB"/>
          </a:p>
          <a:p>
            <a:pPr marL="514350" indent="-514350">
              <a:buAutoNum type="arabicPeriod"/>
            </a:pPr>
            <a:r>
              <a:rPr lang="en-US" altLang="en-GB"/>
              <a:t>Cooper, K., &amp; Torczon, L. (2012). Engineering a Compiler. Morgan Kaufmann.</a:t>
            </a:r>
            <a:endParaRPr lang="en-US" altLang="en-GB"/>
          </a:p>
          <a:p>
            <a:pPr marL="514350" indent="-514350">
              <a:buAutoNum type="arabicPeriod"/>
            </a:pPr>
            <a:r>
              <a:rPr lang="en-US" altLang="en-GB"/>
              <a:t>Tremblay, J. P., &amp; Sorenson, P. G. (1985). The Theory and Practice of Compiler Writing. McGraw-Hill.</a:t>
            </a:r>
            <a:endParaRPr lang="en-US" altLang="en-GB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8*179"/>
  <p:tag name="TABLE_ENDDRAG_RECT" val="64*184*828*179"/>
</p:tagLst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5578</Words>
  <Application>WPS Presentation</Application>
  <PresentationFormat>Widescreen</PresentationFormat>
  <Paragraphs>179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Art_mountaineering</vt:lpstr>
      <vt:lpstr>Title: Longest Match Rule in Token Recognition Course: Compiler Design Name: [HELEN ADUGNA] Student ID: [1506501] Topic: Lexical Analysis – Token Recognition</vt:lpstr>
      <vt:lpstr>                            Introduction</vt:lpstr>
      <vt:lpstr>      What is Token Recognition?</vt:lpstr>
      <vt:lpstr>                     Cont....</vt:lpstr>
      <vt:lpstr>      Definition of Longest Match Rule</vt:lpstr>
      <vt:lpstr>                Cont...</vt:lpstr>
      <vt:lpstr>       Importance of Longest Match</vt:lpstr>
      <vt:lpstr>                 Cont...</vt:lpstr>
      <vt:lpstr>       Lexical Analyzer Implementation</vt:lpstr>
      <vt:lpstr>                               Cont...</vt:lpstr>
      <vt:lpstr>                            Cont...</vt:lpstr>
      <vt:lpstr>                 Extended Examples</vt:lpstr>
      <vt:lpstr>                   Issues if Ignored</vt:lpstr>
      <vt:lpstr>                               Cont...</vt:lpstr>
      <vt:lpstr>    Advantages of the Longest Match Rule</vt:lpstr>
      <vt:lpstr>            Conclusion</vt:lpstr>
      <vt:lpstr>   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user</dc:creator>
  <cp:lastModifiedBy>Helen Adugna</cp:lastModifiedBy>
  <cp:revision>4</cp:revision>
  <dcterms:created xsi:type="dcterms:W3CDTF">2025-07-23T00:59:00Z</dcterms:created>
  <dcterms:modified xsi:type="dcterms:W3CDTF">2026-01-03T19:16:44Z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0D3A0DBA38B54C9F9BD3A04BF07E0BF9_12</vt:lpwstr>
  </property>
  <property fmtid="{D5CDD505-2E9C-101B-9397-08002B2CF9AE}" pid="3" name="KSOProductBuildVer">
    <vt:lpwstr>2057-12.2.0.23196</vt:lpwstr>
  </property>
</Properties>
</file>